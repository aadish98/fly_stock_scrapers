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9"/>
  </p:normalViewPr>
  <p:slideViewPr>
    <p:cSldViewPr snapToGrid="0">
      <p:cViewPr>
        <p:scale>
          <a:sx n="93" d="100"/>
          <a:sy n="93" d="100"/>
        </p:scale>
        <p:origin x="132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7B9F-6762-44CC-DB41-3F3AC6815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D79EB-DA7A-CDD0-01F5-19BE7BEB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80731-367D-B6A6-0117-F814CD91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1D0E-98C8-8FEE-C823-AD2E7767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AC025-0A21-B3C1-4CE9-A0A77517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8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3C14-4E24-3A75-B38F-CCB86880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8E72E-1E43-D238-5020-534485078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7E0A-F55E-263D-9AEF-9DF1C070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A97E6-B373-D7DC-ADD8-1E3D4B37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69727-E4E6-EA07-9B47-D38125E6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7187-051D-227D-06D9-3C68A8394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EC1FF-9344-74B5-06FA-709F66548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55595-B107-5DBD-0306-8A96A05F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76FB3-0575-EAE7-32A3-C740F6D1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022F9-9B4E-90F7-D470-86C0566D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9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4FEF-E51B-0F3D-345D-C193EE19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8E2C-DF5F-485F-49FA-98A4D31C9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8D4C4-985E-437F-598B-166FEFB69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9B3A7-F6F3-8510-B5D4-3A51BE15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260EF-2E38-820B-2E70-11725D67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4EC05-B9D7-8D12-1ACD-90691151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89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38F1-3BB0-743C-8EE2-B8F8D4F6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3EC7B-D7F3-C7AF-3B32-BF0A0D09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A42D6-F8F2-CF78-D229-EDA782CD1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90907-2938-7DE6-E203-0EC852F6B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F3694-2AE8-6584-082B-F1E78109A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91D13-AED8-0128-99F3-861FBC4F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97338-0C5C-36C5-F446-B45D910F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6A0C7-E8EC-C6D4-B38D-AB9C1767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2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62B8-5A49-17CE-5CD7-44CF079E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8EB0B-F4CF-C15B-DE8D-507A301F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803DD-0F8C-29AC-C0A3-6A5A15D16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6F8B6-D352-09EF-EDA0-5BF7FA1C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3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04417-3C94-7688-C83C-F7F84B47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A388E-6E06-FA57-3D93-1640D171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0B7BE-28AA-9F5C-FAD0-DDF8B0149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0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8A0B-31DC-C84D-56C5-0D8B62EB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BA407-31A4-AFFD-99F8-1838280F7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BD008-FC7D-5492-C23C-360B8B685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9EE18-0A66-AA79-576E-98738C5D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4762C-5801-5E64-3B23-81998DCE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43635-706C-D6E8-F026-D7B8C556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4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0758-67A5-7F6C-2F23-088A1680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2D48E-4C78-A2EA-85CF-8024EA42E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BE58A-4AE1-9419-F0FA-449FF118A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9A95-A9D8-03AA-DC11-C2EA9564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B99DC-1271-273C-B396-F40AE3C8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EC80A-27A0-D561-C3CC-F286905C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3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4AB8-9908-B0C0-0029-E09614F5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C9660-4DFD-78DF-F5B0-4E1614F30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B3EEA-1A0A-7DAE-753A-495BE9B1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66199-6D9D-C00A-5B36-FDDE93A6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DE2D0-58C7-1E37-17B0-1CAD6117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1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6A9B5-7F8E-BC7C-988F-65C676CED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FDBC2-0C73-6E9D-6860-3E94E4C81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BCB6-9937-BCE0-4AEE-827C7373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B6510-96BC-8FE8-29CA-C5D70F45D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8F10D-231D-1795-B22A-9BF303DB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9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1908E-52EC-21A5-35E0-43040BBB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D92D1-FD03-1172-E067-C3A3A50F7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E188B-B4EF-1EB6-F72E-8CA97A49F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9172D-7783-D74D-8662-30EC48A07F1B}" type="datetimeFigureOut">
              <a:rPr lang="en-US" smtClean="0"/>
              <a:t>12/9/24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810B-CC77-15B9-0AA6-C425534F1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D02-DDA1-7FDF-D3BE-1C45A0FEC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5E7CD-E8E1-7142-941C-D2FD05A1C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7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v0zpgdhnopyn5k20ieehn/wake_Gene_Sets_GO_Analysis_Summary.csv?rlkey=jgqsl2h2fjm52n2g90ff8mpej&amp;dl=0" TargetMode="External"/><Relationship Id="rId2" Type="http://schemas.openxmlformats.org/officeDocument/2006/relationships/hyperlink" Target="https://www.dropbox.com/scl/fi/m3dkc74z9w7gvbue4mobc/sleep_Gene_Sets_GO_Analysis_Summary.csv?rlkey=yjeo71ot1i2h8k2netytujnt2&amp;dl=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ropbox.com/scl/fi/m3dkc74z9w7gvbue4mobc/sleep_Gene_Sets_GO_Analysis_Summary.csv?rlkey=yjeo71ot1i2h8k2netytujnt2&amp;dl=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dropbox.com/scl/fi/v0zpgdhnopyn5k20ieehn/wake_Gene_Sets_GO_Analysis_Summary.csv?rlkey=jgqsl2h2fjm52n2g90ff8mpej&amp;dl=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8B10-CB8B-E388-1B81-2CE284F2E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Fly Stock Finder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79C02-844E-8BAF-386E-4F24D5C1C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u="sng" dirty="0"/>
              <a:t>Prioritizing ‘GO Hits’</a:t>
            </a:r>
          </a:p>
          <a:p>
            <a:r>
              <a:rPr lang="en-US" i="1" dirty="0"/>
              <a:t>What are the relevant and common GO Terms from the ‘Allada+’ sleep/ wake gene sets?</a:t>
            </a:r>
          </a:p>
        </p:txBody>
      </p:sp>
    </p:spTree>
    <p:extLst>
      <p:ext uri="{BB962C8B-B14F-4D97-AF65-F5344CB8AC3E}">
        <p14:creationId xmlns:p14="http://schemas.microsoft.com/office/powerpoint/2010/main" val="198713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0BA8-07D4-C72C-034C-78A40FDC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214B0B-93D2-012A-BA31-2F13F08F7792}"/>
              </a:ext>
            </a:extLst>
          </p:cNvPr>
          <p:cNvSpPr txBox="1"/>
          <p:nvPr/>
        </p:nvSpPr>
        <p:spPr>
          <a:xfrm>
            <a:off x="2951426" y="0"/>
            <a:ext cx="653241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Allada+ Datasets (26 DGE experiments) </a:t>
            </a:r>
          </a:p>
          <a:p>
            <a:pPr marL="285750" indent="-285750" algn="ctr">
              <a:buFontTx/>
              <a:buChar char="-"/>
            </a:pPr>
            <a:r>
              <a:rPr lang="en-US" sz="1400" dirty="0"/>
              <a:t>22 from Allada lab</a:t>
            </a:r>
          </a:p>
          <a:p>
            <a:pPr marL="285750" indent="-285750" algn="ctr">
              <a:buFontTx/>
              <a:buChar char="-"/>
            </a:pPr>
            <a:r>
              <a:rPr lang="en-US" sz="1400" dirty="0"/>
              <a:t>4 from </a:t>
            </a:r>
            <a:r>
              <a:rPr lang="en-US" sz="1400" dirty="0" err="1"/>
              <a:t>Swinderen</a:t>
            </a:r>
            <a:r>
              <a:rPr lang="en-US" sz="1400" dirty="0"/>
              <a:t> Lab (THIP, 2023 paper)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A4F58-3DC2-A4F9-3519-70C4586C275F}"/>
              </a:ext>
            </a:extLst>
          </p:cNvPr>
          <p:cNvSpPr txBox="1"/>
          <p:nvPr/>
        </p:nvSpPr>
        <p:spPr>
          <a:xfrm>
            <a:off x="3394772" y="1080102"/>
            <a:ext cx="564572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Derive ‘consistent sleep/ wake’ gene sets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| log2b | &gt;= 0.5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FF0000"/>
                </a:solidFill>
              </a:rPr>
              <a:t>qval</a:t>
            </a:r>
            <a:r>
              <a:rPr lang="en-US" sz="1400" dirty="0">
                <a:solidFill>
                  <a:srgbClr val="FF0000"/>
                </a:solidFill>
              </a:rPr>
              <a:t> &lt; 0.05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6C276-087E-857A-6A32-C16CB16B8B2E}"/>
              </a:ext>
            </a:extLst>
          </p:cNvPr>
          <p:cNvSpPr txBox="1"/>
          <p:nvPr/>
        </p:nvSpPr>
        <p:spPr>
          <a:xfrm>
            <a:off x="2587744" y="2160204"/>
            <a:ext cx="725978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Filter out</a:t>
            </a:r>
            <a:r>
              <a:rPr lang="en-US" sz="1400" b="1" dirty="0"/>
              <a:t> genes with experiment overlap of </a:t>
            </a:r>
            <a:r>
              <a:rPr lang="en-US" sz="1400" b="1" dirty="0">
                <a:solidFill>
                  <a:srgbClr val="FF0000"/>
                </a:solidFill>
              </a:rPr>
              <a:t>&lt;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F88F01-A657-7264-B84E-4F143E89E3DF}"/>
              </a:ext>
            </a:extLst>
          </p:cNvPr>
          <p:cNvSpPr txBox="1"/>
          <p:nvPr/>
        </p:nvSpPr>
        <p:spPr>
          <a:xfrm>
            <a:off x="2816344" y="2686307"/>
            <a:ext cx="680258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Create a .csv for each ‘experiment overlap’ (frequency) threshold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100" dirty="0"/>
              <a:t>i.e. from 2 </a:t>
            </a:r>
            <a:r>
              <a:rPr lang="en-US" sz="1100" dirty="0">
                <a:sym typeface="Wingdings" pitchFamily="2" charset="2"/>
              </a:rPr>
              <a:t> max experiment overlap (within respective set), filter out genes with ‘experiment overlap’ less that the staggered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897F9-3C5B-36F9-22DC-647686DAED3D}"/>
              </a:ext>
            </a:extLst>
          </p:cNvPr>
          <p:cNvSpPr txBox="1"/>
          <p:nvPr/>
        </p:nvSpPr>
        <p:spPr>
          <a:xfrm>
            <a:off x="308673" y="3701455"/>
            <a:ext cx="4114799" cy="116955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sym typeface="Wingdings" pitchFamily="2" charset="2"/>
              </a:rPr>
              <a:t>6 Total ‘Consistent sleep gene sets’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Min experiment overlap &gt;= 2,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Min experiment overlap &gt;= 3,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…,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Min experiment overlap &gt;= 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47FAE-49DB-0E69-822A-8DF4E4DE9AEF}"/>
              </a:ext>
            </a:extLst>
          </p:cNvPr>
          <p:cNvSpPr txBox="1"/>
          <p:nvPr/>
        </p:nvSpPr>
        <p:spPr>
          <a:xfrm>
            <a:off x="7859402" y="3701455"/>
            <a:ext cx="4114799" cy="116955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sym typeface="Wingdings" pitchFamily="2" charset="2"/>
              </a:rPr>
              <a:t>5 Total ‘Consistent wake gene sets’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Min experiment overlap &gt;= 2,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Min experiment overlap &gt;= 3,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…,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Min experiment overlap &gt;=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D83B7-8D57-B65C-F4AF-51403F9F2669}"/>
              </a:ext>
            </a:extLst>
          </p:cNvPr>
          <p:cNvSpPr txBox="1"/>
          <p:nvPr/>
        </p:nvSpPr>
        <p:spPr>
          <a:xfrm>
            <a:off x="0" y="0"/>
            <a:ext cx="94769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86BF5-1825-A338-7FD1-95ABC5BD2140}"/>
              </a:ext>
            </a:extLst>
          </p:cNvPr>
          <p:cNvSpPr txBox="1"/>
          <p:nvPr/>
        </p:nvSpPr>
        <p:spPr>
          <a:xfrm>
            <a:off x="0" y="5085934"/>
            <a:ext cx="404719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Conduct GO Analysis on each of the </a:t>
            </a:r>
            <a:r>
              <a:rPr lang="en-US" sz="1400" b="1" dirty="0">
                <a:solidFill>
                  <a:schemeClr val="tx2"/>
                </a:solidFill>
              </a:rPr>
              <a:t>6</a:t>
            </a:r>
            <a:r>
              <a:rPr lang="en-US" sz="1400" b="1" dirty="0"/>
              <a:t> gene sets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AB5A1-A6D1-BB3B-EFBC-3FC12D88210D}"/>
              </a:ext>
            </a:extLst>
          </p:cNvPr>
          <p:cNvSpPr txBox="1"/>
          <p:nvPr/>
        </p:nvSpPr>
        <p:spPr>
          <a:xfrm>
            <a:off x="8144802" y="5085934"/>
            <a:ext cx="404719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Conduct GO Analysis on each of the</a:t>
            </a:r>
            <a:r>
              <a:rPr lang="en-US" sz="1400" b="1" dirty="0">
                <a:solidFill>
                  <a:schemeClr val="accent2"/>
                </a:solidFill>
              </a:rPr>
              <a:t> 5 </a:t>
            </a:r>
            <a:r>
              <a:rPr lang="en-US" sz="1400" b="1" dirty="0"/>
              <a:t>gene 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DAA16F-B6AF-CE2B-99BC-346DD9921A29}"/>
              </a:ext>
            </a:extLst>
          </p:cNvPr>
          <p:cNvSpPr txBox="1"/>
          <p:nvPr/>
        </p:nvSpPr>
        <p:spPr>
          <a:xfrm>
            <a:off x="1" y="5554486"/>
            <a:ext cx="54548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Aggregate GO Terms and count number of overlapping gene sets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F2C177-C30B-179A-FF62-1BA5CA7C748C}"/>
              </a:ext>
            </a:extLst>
          </p:cNvPr>
          <p:cNvSpPr txBox="1"/>
          <p:nvPr/>
        </p:nvSpPr>
        <p:spPr>
          <a:xfrm>
            <a:off x="6737181" y="5554485"/>
            <a:ext cx="54548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Aggregate GO Terms and count number of overlapping gene sets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702A1E-9308-D863-06BE-6692E268A833}"/>
              </a:ext>
            </a:extLst>
          </p:cNvPr>
          <p:cNvSpPr txBox="1"/>
          <p:nvPr/>
        </p:nvSpPr>
        <p:spPr>
          <a:xfrm>
            <a:off x="-6828" y="6404405"/>
            <a:ext cx="509940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hlinkClick r:id="rId2"/>
              </a:rPr>
              <a:t>sleep_genes_GO_Analysis_summary_Table.csv</a:t>
            </a:r>
            <a:endParaRPr lang="en-US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9AD7B4-7AE5-5659-3972-7162EC5904D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2366073" y="3332638"/>
            <a:ext cx="3851562" cy="368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ECE40F-9479-50F6-E925-2E3F2B714DFD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6217635" y="3332638"/>
            <a:ext cx="3699167" cy="368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0C60CF6-E33B-4001-5C8B-573DD58E7921}"/>
              </a:ext>
            </a:extLst>
          </p:cNvPr>
          <p:cNvSpPr txBox="1"/>
          <p:nvPr/>
        </p:nvSpPr>
        <p:spPr>
          <a:xfrm>
            <a:off x="7124074" y="6404405"/>
            <a:ext cx="506792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wake_genes_GO_Analysis_summary_Table.csv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E77ACA-F767-EC37-86EC-BB733DCD8037}"/>
              </a:ext>
            </a:extLst>
          </p:cNvPr>
          <p:cNvSpPr txBox="1"/>
          <p:nvPr/>
        </p:nvSpPr>
        <p:spPr>
          <a:xfrm>
            <a:off x="3342265" y="5948667"/>
            <a:ext cx="5507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Sort in descending order of # overlapping gene sets</a:t>
            </a:r>
          </a:p>
        </p:txBody>
      </p:sp>
    </p:spTree>
    <p:extLst>
      <p:ext uri="{BB962C8B-B14F-4D97-AF65-F5344CB8AC3E}">
        <p14:creationId xmlns:p14="http://schemas.microsoft.com/office/powerpoint/2010/main" val="337841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4816A-A2CA-96E0-F835-C1845213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92636" cy="302058"/>
          </a:xfrm>
        </p:spPr>
        <p:txBody>
          <a:bodyPr anchor="t">
            <a:normAutofit fontScale="90000"/>
          </a:bodyPr>
          <a:lstStyle/>
          <a:p>
            <a:r>
              <a:rPr lang="en-US" sz="1800" dirty="0">
                <a:hlinkClick r:id="rId2"/>
              </a:rPr>
              <a:t>Sleep Gene Sets (min freq 2, 3…, 7) GO Terms Summary Table</a:t>
            </a:r>
            <a:r>
              <a:rPr lang="en-US" sz="1800" dirty="0"/>
              <a:t> (log2b 0.5)</a:t>
            </a:r>
          </a:p>
        </p:txBody>
      </p:sp>
      <p:pic>
        <p:nvPicPr>
          <p:cNvPr id="7" name="Content Placeholder 6" descr="A screenshot of a document&#10;&#10;Description automatically generated">
            <a:extLst>
              <a:ext uri="{FF2B5EF4-FFF2-40B4-BE49-F238E27FC236}">
                <a16:creationId xmlns:a16="http://schemas.microsoft.com/office/drawing/2014/main" id="{EA0B5079-EA93-8708-261A-84C25ACB2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7018" y="455753"/>
            <a:ext cx="9337964" cy="6402247"/>
          </a:xfrm>
        </p:spPr>
      </p:pic>
    </p:spTree>
    <p:extLst>
      <p:ext uri="{BB962C8B-B14F-4D97-AF65-F5344CB8AC3E}">
        <p14:creationId xmlns:p14="http://schemas.microsoft.com/office/powerpoint/2010/main" val="291690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96800-0683-D4F5-8822-B94FFAF7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7CD4-9744-77E0-E839-CB4D32B7C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92636" cy="302058"/>
          </a:xfrm>
        </p:spPr>
        <p:txBody>
          <a:bodyPr anchor="t">
            <a:normAutofit fontScale="90000"/>
          </a:bodyPr>
          <a:lstStyle/>
          <a:p>
            <a:r>
              <a:rPr lang="en-US" sz="1800" dirty="0">
                <a:hlinkClick r:id="rId2"/>
              </a:rPr>
              <a:t>Wake Gene Sets (min freq 2, 3…, 6) GO Terms Summary Table (log2b 0.5)</a:t>
            </a:r>
            <a:endParaRPr lang="en-US" sz="1800" dirty="0"/>
          </a:p>
        </p:txBody>
      </p:sp>
      <p:pic>
        <p:nvPicPr>
          <p:cNvPr id="5" name="Content Placeholder 5" descr="A white sheet with numbers and letters&#10;&#10;Description automatically generated">
            <a:extLst>
              <a:ext uri="{FF2B5EF4-FFF2-40B4-BE49-F238E27FC236}">
                <a16:creationId xmlns:a16="http://schemas.microsoft.com/office/drawing/2014/main" id="{13ED9B7F-D190-046F-7FA9-A9557EF56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982" y="302058"/>
            <a:ext cx="6664036" cy="655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68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285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Fly Stock Finder</vt:lpstr>
      <vt:lpstr>PowerPoint Presentation</vt:lpstr>
      <vt:lpstr>Sleep Gene Sets (min freq 2, 3…, 7) GO Terms Summary Table (log2b 0.5)</vt:lpstr>
      <vt:lpstr>Wake Gene Sets (min freq 2, 3…, 6) GO Terms Summary Table (log2b 0.5)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Shah, Aadish</dc:creator>
  <cp:lastModifiedBy>Shah, Aadish</cp:lastModifiedBy>
  <cp:revision>3</cp:revision>
  <dcterms:created xsi:type="dcterms:W3CDTF">2024-12-09T21:56:48Z</dcterms:created>
  <dcterms:modified xsi:type="dcterms:W3CDTF">2024-12-09T22:28:28Z</dcterms:modified>
</cp:coreProperties>
</file>