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9127-CCAA-7BB1-AD9E-6B1972A9D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7EDE5-BE48-0202-83CF-E0C75744F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BA72A-CBD9-5D2E-13BA-23A239E9D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1A562-75D3-FBBD-EFCF-5EDA5D78E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B3C62-05C6-5B26-DFF1-4FDDBAE4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0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27FF-8ED4-682F-7D6E-EBD0D58F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C33FA-A7A1-CA6F-5F90-2E3E735C8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91F07-4791-8AC9-0A8C-76ABBCE1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D125B-0249-242C-D900-44A2F7FD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F537C-B3B0-54B6-CD50-C236D0E1A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1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257A0-F71E-7893-5573-7B07342A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9F905-5F34-F7CF-5FC9-C5B8F042C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E7EE8-575C-657B-D560-0589D8A7A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BFDE9-5014-D859-431D-B3D32583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BB150-8F4B-7684-BF64-8A6065BA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53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0BFD-0937-64DB-1863-F1D2BAC9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909CF-3167-E2D8-D86B-5CCB72D87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551BF-AE14-1352-E196-CD34A4CA8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DF373-21AB-5E18-2D47-F46D4922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5F4F9-9E03-FE72-6FF2-C3A4CE1D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ED1FD-CCD9-2866-10F2-C84F8218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05BB-F537-5751-8D44-908FA172D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2060A-227F-DB56-A91A-E902CDBE0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750A6-8FCE-52B1-DA89-BF645EBB3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324B2-807E-64A4-FEE8-1D900148E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56B57-A037-B1C9-E3A0-B5184417D7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2D114-C8CB-3C75-0AC5-B3B62378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2092B-04C2-373C-A6F6-15591C99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B5E92-99E0-276A-F366-41682EFA4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8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75F2E-998D-43A8-7134-30492166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45F3CF-B81B-4DDF-7DC8-7006E5EF3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229F8-35E0-3E5D-53C1-A9A12C80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C2EE2-277A-526B-A148-575D5F83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75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2494F-D195-04D7-E3A8-988B49731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8EB7DA-8C92-BA5E-15DF-D1B935180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F6478-8970-C6C5-FAFA-67C2BEC8D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2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A1E9F-778C-24DC-D22C-4A92265B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2AB4A-61BB-5046-4C61-0BF55786A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52232-B0B2-07DC-73EC-E4A8C1F07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AFC3E-8D52-CAE0-5239-7F27C82A0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2EF2F-9B47-B441-1316-FC2E13B14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7CF43-41BC-48C4-3D90-D4C1317D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43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6582-A062-FAA7-6CAA-8CA4EBDBF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DCDB5-898E-CB86-ECCD-3E749347D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F0A9B-5A78-38B1-0740-8AAB5461C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6D279-8C15-B63F-3982-A27A33D6B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3B392-BD7A-9788-6254-95454E3F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FA329-90A3-C6D6-1CFE-7187989A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4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8CEF-4707-C422-065F-F0ACF676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1F1CC-FA45-DF34-8A65-B689161C5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F113A-9DFA-4512-0D05-CD3D93A7F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C56F9-4F92-E16D-7410-57FCE55D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2C228-1439-3492-5072-554A2059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2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38A72-56CB-5454-CD8B-86DC36ADB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E2618-5520-EC7F-1FDF-7F76A5FBF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F73EA-C370-F275-16A0-1B3CA7145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43D96-A609-2AC9-29BA-831E8990E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55482-CF7A-6EBC-6027-8B307CB13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0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E6532C-80E6-AF08-A840-6D3CC4D8B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D8D37-C95F-5C96-1174-273691A41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E393C-819A-F7BC-76CD-9D9AB26A4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20DB6-3DBB-8E44-9492-3AF40EB97FC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60EDA-A908-3FF6-9E4F-06AF880DE4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7C2EF-E2DF-FF89-ABB0-4622F835B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006A2B-5789-1649-81D8-5598BE8695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93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lybase.org/convert/i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lybase.org/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flybase.org/#searchbox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bdsc.indiana.edu/stocks/balancers/balancer_def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B83BE-0743-44D8-CA09-57CC9DC5AC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Fly Stock Finder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793BF-890F-FE8C-FFED-6F1AF112D4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Aadish Shah</a:t>
            </a:r>
          </a:p>
          <a:p>
            <a:r>
              <a:rPr lang="en-US" dirty="0"/>
              <a:t>11/21/24</a:t>
            </a:r>
          </a:p>
        </p:txBody>
      </p:sp>
    </p:spTree>
    <p:extLst>
      <p:ext uri="{BB962C8B-B14F-4D97-AF65-F5344CB8AC3E}">
        <p14:creationId xmlns:p14="http://schemas.microsoft.com/office/powerpoint/2010/main" val="141635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0F7D-AB7E-35E3-9AFB-08E59A45C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292827"/>
          </a:xfrm>
        </p:spPr>
        <p:txBody>
          <a:bodyPr anchor="t">
            <a:noAutofit/>
          </a:bodyPr>
          <a:lstStyle/>
          <a:p>
            <a:r>
              <a:rPr lang="en-US" sz="1800" dirty="0"/>
              <a:t>Fly Stocker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E90178-4A32-C38E-F6DF-B59254795DE8}"/>
              </a:ext>
            </a:extLst>
          </p:cNvPr>
          <p:cNvSpPr/>
          <p:nvPr/>
        </p:nvSpPr>
        <p:spPr>
          <a:xfrm>
            <a:off x="2209800" y="421581"/>
            <a:ext cx="2344615" cy="3664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INPUT</a:t>
            </a:r>
            <a:r>
              <a:rPr lang="en-US" sz="1600" dirty="0">
                <a:solidFill>
                  <a:schemeClr val="tx1"/>
                </a:solidFill>
              </a:rPr>
              <a:t>: Gene 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21BA28-01F6-48F6-588F-BDBF7715744E}"/>
              </a:ext>
            </a:extLst>
          </p:cNvPr>
          <p:cNvSpPr/>
          <p:nvPr/>
        </p:nvSpPr>
        <p:spPr>
          <a:xfrm>
            <a:off x="263769" y="905948"/>
            <a:ext cx="4290646" cy="586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1. Find all </a:t>
            </a:r>
            <a:r>
              <a:rPr lang="en-US" sz="1600" b="1" i="1" dirty="0"/>
              <a:t>Alleles</a:t>
            </a:r>
            <a:r>
              <a:rPr lang="en-US" sz="1600" dirty="0"/>
              <a:t> for each gene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26F4C6-0CB6-33F6-9683-3599FEB1E9B2}"/>
              </a:ext>
            </a:extLst>
          </p:cNvPr>
          <p:cNvSpPr/>
          <p:nvPr/>
        </p:nvSpPr>
        <p:spPr>
          <a:xfrm>
            <a:off x="263769" y="1609998"/>
            <a:ext cx="4290646" cy="5861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2. Manually copy/ paste </a:t>
            </a:r>
            <a:r>
              <a:rPr lang="en-US" sz="1600" b="1" i="1" dirty="0"/>
              <a:t>Alleles</a:t>
            </a:r>
            <a:r>
              <a:rPr lang="en-US" sz="1600" dirty="0"/>
              <a:t> into </a:t>
            </a:r>
            <a:r>
              <a:rPr lang="en-US" sz="1600" b="1" dirty="0" err="1"/>
              <a:t>FlyBase</a:t>
            </a:r>
            <a:r>
              <a:rPr lang="en-US" sz="1600" b="1" dirty="0"/>
              <a:t> </a:t>
            </a:r>
            <a:r>
              <a:rPr lang="en-US" sz="1600" b="1" dirty="0" err="1"/>
              <a:t>BatchDownload</a:t>
            </a:r>
            <a:endParaRPr lang="en-US" sz="16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C1E787-DC7F-1CB6-B9A2-3028B82EB35F}"/>
              </a:ext>
            </a:extLst>
          </p:cNvPr>
          <p:cNvSpPr/>
          <p:nvPr/>
        </p:nvSpPr>
        <p:spPr>
          <a:xfrm>
            <a:off x="0" y="2314048"/>
            <a:ext cx="4554415" cy="9879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3. Validate all </a:t>
            </a:r>
            <a:r>
              <a:rPr lang="en-US" sz="1600" b="1" i="1" dirty="0"/>
              <a:t>stock id’s </a:t>
            </a:r>
            <a:r>
              <a:rPr lang="en-US" sz="1600" dirty="0"/>
              <a:t>against the ‘stocks’ table for </a:t>
            </a:r>
            <a:r>
              <a:rPr lang="en-US" sz="1600" b="1" i="1" dirty="0"/>
              <a:t>stock id/ genotype/ collection</a:t>
            </a:r>
            <a:r>
              <a:rPr lang="en-US" sz="1600" i="1" dirty="0"/>
              <a:t> </a:t>
            </a:r>
            <a:r>
              <a:rPr lang="en-US" sz="1600" b="1" i="1" dirty="0"/>
              <a:t>name</a:t>
            </a:r>
            <a:r>
              <a:rPr lang="en-US" sz="1600" dirty="0"/>
              <a:t> alignment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8E8D8E-9D1F-826F-9C55-5CED895F531C}"/>
              </a:ext>
            </a:extLst>
          </p:cNvPr>
          <p:cNvSpPr/>
          <p:nvPr/>
        </p:nvSpPr>
        <p:spPr>
          <a:xfrm>
            <a:off x="263769" y="3419909"/>
            <a:ext cx="4290646" cy="586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4. Extract </a:t>
            </a:r>
            <a:r>
              <a:rPr lang="en-US" sz="1600" b="1" i="1" dirty="0"/>
              <a:t>Allele’s</a:t>
            </a:r>
            <a:r>
              <a:rPr lang="en-US" sz="1600" dirty="0"/>
              <a:t> ‘paper’ type </a:t>
            </a:r>
            <a:r>
              <a:rPr lang="en-US" sz="1600" b="1" i="1" dirty="0"/>
              <a:t>references</a:t>
            </a:r>
            <a:endParaRPr lang="en-US" sz="16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D5CE60-7794-2A2A-6E05-7A1843E26868}"/>
              </a:ext>
            </a:extLst>
          </p:cNvPr>
          <p:cNvSpPr/>
          <p:nvPr/>
        </p:nvSpPr>
        <p:spPr>
          <a:xfrm>
            <a:off x="263769" y="4123959"/>
            <a:ext cx="4290646" cy="5861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5. Add all ‘sleep’/ ‘ND’ paper refs for each </a:t>
            </a:r>
            <a:r>
              <a:rPr lang="en-US" sz="1600" i="1" dirty="0"/>
              <a:t>gene</a:t>
            </a:r>
            <a:r>
              <a:rPr lang="en-US" sz="1600" dirty="0"/>
              <a:t> (</a:t>
            </a:r>
            <a:r>
              <a:rPr lang="en-US" sz="1600" dirty="0" err="1"/>
              <a:t>FlyBase</a:t>
            </a:r>
            <a:r>
              <a:rPr lang="en-US" sz="1600" dirty="0"/>
              <a:t> reference </a:t>
            </a:r>
            <a:r>
              <a:rPr lang="en-US" sz="1600" dirty="0" err="1"/>
              <a:t>QuickSearch</a:t>
            </a:r>
            <a:r>
              <a:rPr lang="en-US" sz="1600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F558A7-165B-A347-78B9-F5B473E3ED58}"/>
              </a:ext>
            </a:extLst>
          </p:cNvPr>
          <p:cNvSpPr txBox="1"/>
          <p:nvPr/>
        </p:nvSpPr>
        <p:spPr>
          <a:xfrm>
            <a:off x="5149364" y="873655"/>
            <a:ext cx="216027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1. </a:t>
            </a:r>
            <a:r>
              <a:rPr lang="en-US" sz="1600" b="1" dirty="0" err="1">
                <a:solidFill>
                  <a:schemeClr val="accent1"/>
                </a:solidFill>
              </a:rPr>
              <a:t>fbal_to_fbgn_fb.tsv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43D176-4E1E-8F8A-0E3C-BB81E8C7D003}"/>
              </a:ext>
            </a:extLst>
          </p:cNvPr>
          <p:cNvSpPr txBox="1"/>
          <p:nvPr/>
        </p:nvSpPr>
        <p:spPr>
          <a:xfrm>
            <a:off x="5149363" y="2624786"/>
            <a:ext cx="1342227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3. </a:t>
            </a:r>
            <a:r>
              <a:rPr lang="en-US" sz="1600" b="1" dirty="0" err="1">
                <a:solidFill>
                  <a:schemeClr val="accent1"/>
                </a:solidFill>
              </a:rPr>
              <a:t>stocks.tsv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642FB47-28CF-C1A8-469D-B43E5B686624}"/>
              </a:ext>
            </a:extLst>
          </p:cNvPr>
          <p:cNvGrpSpPr/>
          <p:nvPr/>
        </p:nvGrpSpPr>
        <p:grpSpPr>
          <a:xfrm>
            <a:off x="5149364" y="1251542"/>
            <a:ext cx="4115741" cy="1333911"/>
            <a:chOff x="5149364" y="1321277"/>
            <a:chExt cx="4115741" cy="1333911"/>
          </a:xfrm>
        </p:grpSpPr>
        <p:pic>
          <p:nvPicPr>
            <p:cNvPr id="17" name="Picture 16" descr="A screenshot of a computer&#10;&#10;Description automatically generated">
              <a:hlinkClick r:id="rId2"/>
              <a:extLst>
                <a:ext uri="{FF2B5EF4-FFF2-40B4-BE49-F238E27FC236}">
                  <a16:creationId xmlns:a16="http://schemas.microsoft.com/office/drawing/2014/main" id="{9054E4BC-1DBA-4E1D-798A-1E4C97BE7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9364" y="1321278"/>
              <a:ext cx="4115741" cy="133391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4599AB1-95A4-F8B0-AA49-5B4831CAAF3D}"/>
                </a:ext>
              </a:extLst>
            </p:cNvPr>
            <p:cNvSpPr txBox="1"/>
            <p:nvPr/>
          </p:nvSpPr>
          <p:spPr>
            <a:xfrm>
              <a:off x="5149364" y="1321277"/>
              <a:ext cx="2351349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hlinkClick r:id="rId2"/>
                </a:rPr>
                <a:t>2. </a:t>
              </a:r>
              <a:r>
                <a:rPr lang="en-US" sz="1400" b="1" dirty="0" err="1">
                  <a:hlinkClick r:id="rId2"/>
                </a:rPr>
                <a:t>FlyBase</a:t>
              </a:r>
              <a:r>
                <a:rPr lang="en-US" sz="1400" b="1" dirty="0">
                  <a:hlinkClick r:id="rId2"/>
                </a:rPr>
                <a:t> </a:t>
              </a:r>
              <a:r>
                <a:rPr lang="en-US" sz="1400" b="1" dirty="0" err="1">
                  <a:hlinkClick r:id="rId2"/>
                </a:rPr>
                <a:t>BatchDownload</a:t>
              </a:r>
              <a:endParaRPr lang="en-US" sz="1400" b="1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ADC1F10-44B5-0243-1857-633C9495288F}"/>
              </a:ext>
            </a:extLst>
          </p:cNvPr>
          <p:cNvSpPr txBox="1"/>
          <p:nvPr/>
        </p:nvSpPr>
        <p:spPr>
          <a:xfrm>
            <a:off x="5149363" y="3002673"/>
            <a:ext cx="270324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4. </a:t>
            </a:r>
            <a:r>
              <a:rPr lang="en-US" sz="1600" b="1" dirty="0" err="1">
                <a:solidFill>
                  <a:schemeClr val="accent1"/>
                </a:solidFill>
              </a:rPr>
              <a:t>fbrf_pmid_pmcid_doi.tsv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5DABA2-00BF-1800-43FC-A0B9A569EA5B}"/>
              </a:ext>
            </a:extLst>
          </p:cNvPr>
          <p:cNvGrpSpPr/>
          <p:nvPr/>
        </p:nvGrpSpPr>
        <p:grpSpPr>
          <a:xfrm>
            <a:off x="5149363" y="3380560"/>
            <a:ext cx="5134275" cy="1409496"/>
            <a:chOff x="5149363" y="3573687"/>
            <a:chExt cx="5134275" cy="1409496"/>
          </a:xfrm>
        </p:grpSpPr>
        <p:pic>
          <p:nvPicPr>
            <p:cNvPr id="13" name="Picture 12" descr="A screenshot of a computer&#10;&#10;Description automatically generated">
              <a:hlinkClick r:id="rId4"/>
              <a:extLst>
                <a:ext uri="{FF2B5EF4-FFF2-40B4-BE49-F238E27FC236}">
                  <a16:creationId xmlns:a16="http://schemas.microsoft.com/office/drawing/2014/main" id="{D85FFE44-A1A4-FFF2-F365-8167A4DD2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49363" y="3575090"/>
              <a:ext cx="5134275" cy="1408093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DA55B44-3D6E-FDD6-1820-63AA66403D49}"/>
                </a:ext>
              </a:extLst>
            </p:cNvPr>
            <p:cNvSpPr txBox="1"/>
            <p:nvPr/>
          </p:nvSpPr>
          <p:spPr>
            <a:xfrm>
              <a:off x="5149363" y="3573687"/>
              <a:ext cx="209987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hlinkClick r:id="rId6"/>
                </a:rPr>
                <a:t>5. FlyBase </a:t>
              </a:r>
              <a:r>
                <a:rPr lang="en-US" sz="1400" b="1" dirty="0" err="1">
                  <a:hlinkClick r:id="rId6"/>
                </a:rPr>
                <a:t>QuickSearch</a:t>
              </a:r>
              <a:endParaRPr lang="en-US" sz="1400" b="1" dirty="0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2BDA278-E083-3A0F-DF2A-CEAA46C9D687}"/>
              </a:ext>
            </a:extLst>
          </p:cNvPr>
          <p:cNvSpPr/>
          <p:nvPr/>
        </p:nvSpPr>
        <p:spPr>
          <a:xfrm>
            <a:off x="263769" y="4828009"/>
            <a:ext cx="4290646" cy="586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6. Add </a:t>
            </a:r>
            <a:r>
              <a:rPr lang="en-US" sz="1600" b="1" i="1" dirty="0"/>
              <a:t>genomic and insertion location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5633EC-CC98-85B8-1EDB-E22E6F20A7AC}"/>
              </a:ext>
            </a:extLst>
          </p:cNvPr>
          <p:cNvSpPr txBox="1"/>
          <p:nvPr/>
        </p:nvSpPr>
        <p:spPr>
          <a:xfrm>
            <a:off x="5149363" y="4829388"/>
            <a:ext cx="2257862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6. </a:t>
            </a:r>
            <a:r>
              <a:rPr lang="en-US" sz="1600" b="1" dirty="0" err="1">
                <a:solidFill>
                  <a:schemeClr val="accent1"/>
                </a:solidFill>
              </a:rPr>
              <a:t>gene_map_table.tsv</a:t>
            </a:r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1600" b="1" dirty="0" err="1">
                <a:solidFill>
                  <a:schemeClr val="accent1"/>
                </a:solidFill>
              </a:rPr>
              <a:t>insertion_mapping.tsv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F4DAB738-26E4-9856-CB69-FD4E39F55909}"/>
              </a:ext>
            </a:extLst>
          </p:cNvPr>
          <p:cNvSpPr/>
          <p:nvPr/>
        </p:nvSpPr>
        <p:spPr>
          <a:xfrm>
            <a:off x="4783015" y="5532059"/>
            <a:ext cx="228600" cy="6116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C995C0-8460-08CF-87EC-4B81144933C9}"/>
              </a:ext>
            </a:extLst>
          </p:cNvPr>
          <p:cNvSpPr txBox="1"/>
          <p:nvPr/>
        </p:nvSpPr>
        <p:spPr>
          <a:xfrm>
            <a:off x="3261194" y="6280818"/>
            <a:ext cx="4215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filtering of stocks described on next slide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F6D2B8-A723-9150-C65B-5A2B21AC9F08}"/>
              </a:ext>
            </a:extLst>
          </p:cNvPr>
          <p:cNvSpPr txBox="1"/>
          <p:nvPr/>
        </p:nvSpPr>
        <p:spPr>
          <a:xfrm>
            <a:off x="5149363" y="420150"/>
            <a:ext cx="4115742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u="sng" dirty="0" err="1"/>
              <a:t>FlyBase</a:t>
            </a:r>
            <a:r>
              <a:rPr lang="en-US" b="1" u="sng" dirty="0"/>
              <a:t> Published Data/ Search Tools</a:t>
            </a:r>
          </a:p>
        </p:txBody>
      </p:sp>
    </p:spTree>
    <p:extLst>
      <p:ext uri="{BB962C8B-B14F-4D97-AF65-F5344CB8AC3E}">
        <p14:creationId xmlns:p14="http://schemas.microsoft.com/office/powerpoint/2010/main" val="402340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EF1FF-66E6-D574-ED1C-A13662AA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80082-9406-DCEE-2B88-4745C5124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496095"/>
          </a:xfrm>
        </p:spPr>
        <p:txBody>
          <a:bodyPr anchor="t">
            <a:noAutofit/>
          </a:bodyPr>
          <a:lstStyle/>
          <a:p>
            <a:r>
              <a:rPr lang="en-US" sz="2800" u="sng" dirty="0"/>
              <a:t>Filtering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DA53E-9E79-77B4-4C09-629395BD82D9}"/>
              </a:ext>
            </a:extLst>
          </p:cNvPr>
          <p:cNvSpPr txBox="1"/>
          <p:nvPr/>
        </p:nvSpPr>
        <p:spPr>
          <a:xfrm>
            <a:off x="2" y="5210566"/>
            <a:ext cx="78331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C6A5D"/>
                </a:solidFill>
                <a:effectLst/>
              </a:rPr>
              <a:t>1 ["Bloomington" &gt;"No Balancers” &gt; "No sgRNA” &gt; "UAS” &gt; "RNAi” &gt; "attP2"]</a:t>
            </a:r>
          </a:p>
          <a:p>
            <a:r>
              <a:rPr lang="en-US" dirty="0">
                <a:solidFill>
                  <a:srgbClr val="FC6A5D"/>
                </a:solidFill>
                <a:effectLst/>
              </a:rPr>
              <a:t>2 ["Bloomington” &gt; "No Balancers” &gt; "No sgRNA” &gt; "UAS” &gt; "RNAi” &gt; "attP16"]</a:t>
            </a:r>
          </a:p>
          <a:p>
            <a:r>
              <a:rPr lang="en-US" dirty="0">
                <a:solidFill>
                  <a:srgbClr val="FC6A5D"/>
                </a:solidFill>
                <a:effectLst/>
              </a:rPr>
              <a:t>3 ["Bloomington” &gt; "No Balancers” &gt; "No sgRNA” &gt; "UAS” &gt;  "RNAi” &gt; "attP40"]</a:t>
            </a:r>
          </a:p>
          <a:p>
            <a:r>
              <a:rPr lang="en-US" dirty="0">
                <a:solidFill>
                  <a:srgbClr val="FC6A5D"/>
                </a:solidFill>
                <a:effectLst/>
              </a:rPr>
              <a:t>4 ["Bloomington” &gt; "No Balancers” &gt; "No sgRNA” &gt; "Allele"]</a:t>
            </a:r>
          </a:p>
          <a:p>
            <a:r>
              <a:rPr lang="en-US" dirty="0">
                <a:solidFill>
                  <a:srgbClr val="FFFFFF"/>
                </a:solidFill>
                <a:effectLst/>
              </a:rPr>
              <a:t>  ]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F3C7A-732A-8A7D-11F0-087B93AAD2F4}"/>
              </a:ext>
            </a:extLst>
          </p:cNvPr>
          <p:cNvSpPr txBox="1"/>
          <p:nvPr/>
        </p:nvSpPr>
        <p:spPr>
          <a:xfrm>
            <a:off x="2" y="3046241"/>
            <a:ext cx="9807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A. Stock (allele) has paper reference + Gene has sleep paper reference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6B0FCD-239B-E5F1-2304-E93487E26D26}"/>
              </a:ext>
            </a:extLst>
          </p:cNvPr>
          <p:cNvSpPr txBox="1"/>
          <p:nvPr/>
        </p:nvSpPr>
        <p:spPr>
          <a:xfrm>
            <a:off x="1" y="3449195"/>
            <a:ext cx="9807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B. Stock (allele) has paper reference + Gene has </a:t>
            </a:r>
            <a:r>
              <a:rPr lang="en-US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sleep paper reference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4F3BC6-CE81-91BD-5E2D-8F245714DD4E}"/>
              </a:ext>
            </a:extLst>
          </p:cNvPr>
          <p:cNvSpPr txBox="1"/>
          <p:nvPr/>
        </p:nvSpPr>
        <p:spPr>
          <a:xfrm>
            <a:off x="0" y="3852149"/>
            <a:ext cx="9807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C. Stock (allele) has </a:t>
            </a:r>
            <a:r>
              <a:rPr lang="en-US" b="1" u="sng" dirty="0">
                <a:solidFill>
                  <a:srgbClr val="92D050"/>
                </a:solidFill>
              </a:rPr>
              <a:t>no</a:t>
            </a:r>
            <a:r>
              <a:rPr lang="en-US" dirty="0">
                <a:solidFill>
                  <a:srgbClr val="92D050"/>
                </a:solidFill>
              </a:rPr>
              <a:t> paper reference + Gene has </a:t>
            </a:r>
            <a:r>
              <a:rPr lang="en-US" b="1" u="sng" dirty="0">
                <a:solidFill>
                  <a:srgbClr val="92D050"/>
                </a:solidFill>
              </a:rPr>
              <a:t>no</a:t>
            </a:r>
            <a:r>
              <a:rPr lang="en-US" dirty="0">
                <a:solidFill>
                  <a:srgbClr val="92D050"/>
                </a:solidFill>
              </a:rPr>
              <a:t> sleep paper reference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6B9624-DA1C-8EC5-5B4B-C6299730749F}"/>
              </a:ext>
            </a:extLst>
          </p:cNvPr>
          <p:cNvSpPr txBox="1"/>
          <p:nvPr/>
        </p:nvSpPr>
        <p:spPr>
          <a:xfrm>
            <a:off x="0" y="764772"/>
            <a:ext cx="1162929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Filter Definitions: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>
                <a:solidFill>
                  <a:srgbClr val="FC6A5D"/>
                </a:solidFill>
                <a:effectLst/>
              </a:rPr>
              <a:t>Bloomington</a:t>
            </a:r>
            <a:r>
              <a:rPr lang="en-US" dirty="0"/>
              <a:t>”: Stocks ‘</a:t>
            </a:r>
            <a:r>
              <a:rPr lang="en-US" i="1" dirty="0"/>
              <a:t>collection short name</a:t>
            </a:r>
            <a:r>
              <a:rPr lang="en-US" dirty="0"/>
              <a:t>’ contains ‘Bloomington’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>
                <a:solidFill>
                  <a:srgbClr val="FC6A5D"/>
                </a:solidFill>
                <a:effectLst/>
              </a:rPr>
              <a:t>No Balancers</a:t>
            </a:r>
            <a:r>
              <a:rPr lang="en-US" dirty="0"/>
              <a:t>”: Stocks ‘</a:t>
            </a:r>
            <a:r>
              <a:rPr lang="en-US" i="1" dirty="0"/>
              <a:t>genotype</a:t>
            </a:r>
            <a:r>
              <a:rPr lang="en-US" dirty="0"/>
              <a:t>’ contains none of the 48 balancers listed in </a:t>
            </a:r>
            <a:r>
              <a:rPr lang="en-US" dirty="0">
                <a:hlinkClick r:id="rId2"/>
              </a:rPr>
              <a:t>BDSC core balancers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>
                <a:solidFill>
                  <a:srgbClr val="FC6A5D"/>
                </a:solidFill>
                <a:effectLst/>
              </a:rPr>
              <a:t>No sgRNA</a:t>
            </a:r>
            <a:r>
              <a:rPr lang="en-US" dirty="0"/>
              <a:t>”: Stocks ‘</a:t>
            </a:r>
            <a:r>
              <a:rPr lang="en-US" i="1" dirty="0"/>
              <a:t>nature of lesion</a:t>
            </a:r>
            <a:r>
              <a:rPr lang="en-US" dirty="0"/>
              <a:t>’ doesn’t contain “sgRNA”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>
                <a:solidFill>
                  <a:srgbClr val="FC6A5D"/>
                </a:solidFill>
                <a:effectLst/>
              </a:rPr>
              <a:t>UAS”: </a:t>
            </a:r>
            <a:r>
              <a:rPr lang="en-US" dirty="0">
                <a:effectLst/>
              </a:rPr>
              <a:t>Stock ‘</a:t>
            </a:r>
            <a:r>
              <a:rPr lang="en-US" i="1" dirty="0">
                <a:effectLst/>
              </a:rPr>
              <a:t>nature of lesion</a:t>
            </a:r>
            <a:r>
              <a:rPr lang="en-US" dirty="0">
                <a:effectLst/>
              </a:rPr>
              <a:t>’ contains ’UAS’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>
                <a:solidFill>
                  <a:srgbClr val="FC6A5D"/>
                </a:solidFill>
              </a:rPr>
              <a:t>RNAi”: </a:t>
            </a:r>
            <a:r>
              <a:rPr lang="en-US" dirty="0"/>
              <a:t>Stocks ‘</a:t>
            </a:r>
            <a:r>
              <a:rPr lang="en-US" i="1" dirty="0"/>
              <a:t>carried in construct</a:t>
            </a:r>
            <a:r>
              <a:rPr lang="en-US" dirty="0"/>
              <a:t>’ contains ‘RNAi’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 err="1">
                <a:solidFill>
                  <a:srgbClr val="FC6A5D"/>
                </a:solidFill>
                <a:effectLst/>
              </a:rPr>
              <a:t>attPX</a:t>
            </a:r>
            <a:r>
              <a:rPr lang="en-US" dirty="0">
                <a:solidFill>
                  <a:srgbClr val="FC6A5D"/>
                </a:solidFill>
                <a:effectLst/>
              </a:rPr>
              <a:t>”: </a:t>
            </a:r>
            <a:r>
              <a:rPr lang="en-US" dirty="0">
                <a:effectLst/>
              </a:rPr>
              <a:t>Stocks </a:t>
            </a:r>
            <a:r>
              <a:rPr lang="en-US" i="1" dirty="0">
                <a:effectLst/>
              </a:rPr>
              <a:t>’genotype</a:t>
            </a:r>
            <a:r>
              <a:rPr lang="en-US" dirty="0">
                <a:effectLst/>
              </a:rPr>
              <a:t>’ contains ‘</a:t>
            </a:r>
            <a:r>
              <a:rPr lang="en-US" dirty="0" err="1">
                <a:effectLst/>
              </a:rPr>
              <a:t>attPX</a:t>
            </a:r>
            <a:r>
              <a:rPr lang="en-US" dirty="0">
                <a:effectLst/>
              </a:rPr>
              <a:t>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>
                <a:solidFill>
                  <a:srgbClr val="FC6A5D"/>
                </a:solidFill>
                <a:effectLst/>
              </a:rPr>
              <a:t>Allele”: </a:t>
            </a:r>
            <a:r>
              <a:rPr lang="en-US" dirty="0">
                <a:effectLst/>
              </a:rPr>
              <a:t>Stocks </a:t>
            </a:r>
            <a:r>
              <a:rPr lang="en-US" i="1" dirty="0">
                <a:effectLst/>
              </a:rPr>
              <a:t>’nature of lesion’ doesn’t</a:t>
            </a:r>
            <a:r>
              <a:rPr lang="en-US" dirty="0">
                <a:effectLst/>
              </a:rPr>
              <a:t> contain ‘UAS’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0FA328-65AC-38B1-F0A8-6EFBD8F6F617}"/>
              </a:ext>
            </a:extLst>
          </p:cNvPr>
          <p:cNvSpPr txBox="1"/>
          <p:nvPr/>
        </p:nvSpPr>
        <p:spPr>
          <a:xfrm>
            <a:off x="0" y="4841234"/>
            <a:ext cx="387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Combinations of filters applied: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7E3691-6633-65F3-BEFD-61A97615C2C4}"/>
              </a:ext>
            </a:extLst>
          </p:cNvPr>
          <p:cNvSpPr txBox="1"/>
          <p:nvPr/>
        </p:nvSpPr>
        <p:spPr>
          <a:xfrm>
            <a:off x="8712341" y="5152965"/>
            <a:ext cx="38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/>
                </a:solidFill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7D8FA4-9874-5C74-A489-9BE316EADC26}"/>
              </a:ext>
            </a:extLst>
          </p:cNvPr>
          <p:cNvSpPr txBox="1"/>
          <p:nvPr/>
        </p:nvSpPr>
        <p:spPr>
          <a:xfrm>
            <a:off x="8712340" y="5555919"/>
            <a:ext cx="38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E4A669-183E-3CED-67BD-077F6A9DAA08}"/>
              </a:ext>
            </a:extLst>
          </p:cNvPr>
          <p:cNvSpPr txBox="1"/>
          <p:nvPr/>
        </p:nvSpPr>
        <p:spPr>
          <a:xfrm>
            <a:off x="8712339" y="5958873"/>
            <a:ext cx="38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48564CD3-7627-6163-F57B-961D0D06C6DE}"/>
              </a:ext>
            </a:extLst>
          </p:cNvPr>
          <p:cNvSpPr/>
          <p:nvPr/>
        </p:nvSpPr>
        <p:spPr>
          <a:xfrm>
            <a:off x="7685903" y="5185200"/>
            <a:ext cx="490228" cy="129689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D998D18C-4FCA-5CED-5F72-A671C960B1C4}"/>
              </a:ext>
            </a:extLst>
          </p:cNvPr>
          <p:cNvSpPr/>
          <p:nvPr/>
        </p:nvSpPr>
        <p:spPr>
          <a:xfrm>
            <a:off x="8035454" y="5632169"/>
            <a:ext cx="597877" cy="4029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6436BF-D6EE-3180-6DC9-82952C0C9FEE}"/>
              </a:ext>
            </a:extLst>
          </p:cNvPr>
          <p:cNvSpPr txBox="1"/>
          <p:nvPr/>
        </p:nvSpPr>
        <p:spPr>
          <a:xfrm>
            <a:off x="9099201" y="5648980"/>
            <a:ext cx="3208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12 (4x3) splits on ‘ALL’ stocks</a:t>
            </a:r>
          </a:p>
        </p:txBody>
      </p:sp>
    </p:spTree>
    <p:extLst>
      <p:ext uri="{BB962C8B-B14F-4D97-AF65-F5344CB8AC3E}">
        <p14:creationId xmlns:p14="http://schemas.microsoft.com/office/powerpoint/2010/main" val="2546829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414</Words>
  <Application>Microsoft Macintosh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Fly Stock Finder</vt:lpstr>
      <vt:lpstr>Fly Stocker Pipeline</vt:lpstr>
      <vt:lpstr>Filtering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Shah, Aadish</dc:creator>
  <cp:lastModifiedBy>Shah, Aadish</cp:lastModifiedBy>
  <cp:revision>6</cp:revision>
  <dcterms:created xsi:type="dcterms:W3CDTF">2024-11-21T16:06:08Z</dcterms:created>
  <dcterms:modified xsi:type="dcterms:W3CDTF">2024-11-25T19:22:33Z</dcterms:modified>
</cp:coreProperties>
</file>